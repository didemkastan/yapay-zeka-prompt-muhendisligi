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Kapak. Seri girişi, ders başlığı ve imza.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6309360"/>
            <a:ext cx="4754880" cy="4754880"/>
          </a:xfrm>
          <a:prstGeom prst="ellipse">
            <a:avLst/>
          </a:prstGeom>
          <a:solidFill>
            <a:srgbClr val="FF6B3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48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BİRLİKTE ÖĞRENİYORUZ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81928" y="52120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281928" y="521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6126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Mühendisliği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594360" y="4526280"/>
            <a:ext cx="8229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4892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5303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D8D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Engineering'in Ötesi: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D8D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Dil Modellerini Anlamak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94360" y="6537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Karmaşık görünen bir konuyu, birlikte ve sade bir dille öğreniyoruz. Bu, on iki bölümlük serinin ilk dersi.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7726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Hazırlayan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Didem Kaştan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8092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Kaydırın  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8458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Prompt Mühendisliği  ·  Ders 1 / 12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0" y="8458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6161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48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İŞİN ÖZÜ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81928" y="521208"/>
            <a:ext cx="438912" cy="438912"/>
          </a:xfrm>
          <a:prstGeom prst="ellipse">
            <a:avLst/>
          </a:prstGeom>
          <a:solidFill>
            <a:srgbClr val="16161F"/>
          </a:solidFill>
          <a:ln/>
        </p:spPr>
      </p:sp>
      <p:sp>
        <p:nvSpPr>
          <p:cNvPr id="5" name="Text 3"/>
          <p:cNvSpPr/>
          <p:nvPr/>
        </p:nvSpPr>
        <p:spPr>
          <a:xfrm>
            <a:off x="6281928" y="521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bilmiyor.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Sadece devam ediyor.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yapay zekâya soru sorduğunuzda, cevabı bilen biriyle konuşmuyorsunuz. Model elindeki metne bakar, bir sonraki parçayı tahmin eder, ekler ve aynı şeyi baştan yapar.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4526280"/>
            <a:ext cx="6126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800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Havada uçan bir ...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5303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kuş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uçak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53035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Üçü de mümkün. Modelin hangisini seçeceğini belirleyen tek şey, ona verdiğiniz metindir.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70408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b="1" i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anlamaz, desene uyar. O yüzden prompt yazmak</a:t>
            </a:r>
            <a:endParaRPr lang="en-US" sz="16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50" b="1" i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dilek dilemek değil, doğru deseni kurmaktır.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94360" y="8458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Prompt Mühendisliği  ·  Ders 1 / 12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7800" y="8458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6161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48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PERDENİN ARKASI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81928" y="521208"/>
            <a:ext cx="438912" cy="438912"/>
          </a:xfrm>
          <a:prstGeom prst="ellipse">
            <a:avLst/>
          </a:prstGeom>
          <a:solidFill>
            <a:srgbClr val="16161F"/>
          </a:solidFill>
          <a:ln/>
        </p:spPr>
      </p:sp>
      <p:sp>
        <p:nvSpPr>
          <p:cNvPr id="5" name="Text 3"/>
          <p:cNvSpPr/>
          <p:nvPr/>
        </p:nvSpPr>
        <p:spPr>
          <a:xfrm>
            <a:off x="6281928" y="521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Peki içeride</a:t>
            </a:r>
            <a:endParaRPr lang="en-US" sz="33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oluyor?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94360" y="2834640"/>
            <a:ext cx="61264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31089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182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3730752"/>
            <a:ext cx="5532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kelime değil, parça görür. “Mühendislik” onun gözünde Mü | hen | dis | lik'tir. Türkçe, İngilizceye göre yaklaşık iki kat fazla token harcar.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" y="4773168"/>
            <a:ext cx="5614416" cy="411480"/>
          </a:xfrm>
          <a:prstGeom prst="roundRect">
            <a:avLst>
              <a:gd name="adj" fmla="val 17778"/>
            </a:avLst>
          </a:prstGeom>
          <a:solidFill>
            <a:srgbClr val="FB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82803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 </a:t>
            </a:r>
            <a:pPr indent="0" marL="0">
              <a:buNone/>
            </a:pPr>
            <a:r>
              <a:rPr lang="en-US" sz="1100" dirty="0">
                <a:solidFill>
                  <a:srgbClr val="6B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metni İngilizce yazmak çoğu zaman daha ucuza gelir.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5532120"/>
            <a:ext cx="61264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58064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5879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Bağlam Penceresi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86968" y="6428232"/>
            <a:ext cx="5532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 aynı anda görebildiği toplam alandır. Sistem talimatı, tüm sohbet ve üretilecek cevap hepsi buraya sığmak zorundadır. Alan dolunca baştakiler etkisini kaybeder.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" y="7470648"/>
            <a:ext cx="5614416" cy="411480"/>
          </a:xfrm>
          <a:prstGeom prst="roundRect">
            <a:avLst>
              <a:gd name="adj" fmla="val 17778"/>
            </a:avLst>
          </a:prstGeom>
          <a:solidFill>
            <a:srgbClr val="FBEDE7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752551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 </a:t>
            </a:r>
            <a:pPr indent="0" marL="0">
              <a:buNone/>
            </a:pPr>
            <a:r>
              <a:rPr lang="en-US" sz="1100" dirty="0">
                <a:solidFill>
                  <a:srgbClr val="6B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Uzun sohbette model ilk kuralı unutuyorsa sebebi budur.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8458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Prompt Mühendisliği  ·  Ders 1 / 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8458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6161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48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PERDENİN ARKASI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81928" y="521208"/>
            <a:ext cx="438912" cy="438912"/>
          </a:xfrm>
          <a:prstGeom prst="ellipse">
            <a:avLst/>
          </a:prstGeom>
          <a:solidFill>
            <a:srgbClr val="16161F"/>
          </a:solidFill>
          <a:ln/>
        </p:spPr>
      </p:sp>
      <p:sp>
        <p:nvSpPr>
          <p:cNvPr id="5" name="Text 3"/>
          <p:cNvSpPr/>
          <p:nvPr/>
        </p:nvSpPr>
        <p:spPr>
          <a:xfrm>
            <a:off x="6281928" y="521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bilmeniz gereken</a:t>
            </a:r>
            <a:endParaRPr lang="en-US" sz="33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iki kavram daha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94360" y="2834640"/>
            <a:ext cx="61264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31089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182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Sıcaklık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3730752"/>
            <a:ext cx="5532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 ne kadar risk alacağını belirler. Sıfıra yakın değerlerde hep en olası kelimeyi seçer; sonuç kararlı ve tekrarlanabilir olur. Yükseldikçe yaratıcılaşır ama dağılır.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" y="4773168"/>
            <a:ext cx="5614416" cy="411480"/>
          </a:xfrm>
          <a:prstGeom prst="roundRect">
            <a:avLst>
              <a:gd name="adj" fmla="val 17778"/>
            </a:avLst>
          </a:prstGeom>
          <a:solidFill>
            <a:srgbClr val="FB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82803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 </a:t>
            </a:r>
            <a:pPr indent="0" marL="0">
              <a:buNone/>
            </a:pPr>
            <a:r>
              <a:rPr lang="en-US" sz="1100" dirty="0">
                <a:solidFill>
                  <a:srgbClr val="6B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ve veri işlerinde düşük, slogan ararken yüksek tutun.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5532120"/>
            <a:ext cx="61264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58064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5879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Halüsinasyon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86968" y="6428232"/>
            <a:ext cx="5532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“bilmiyorum” demez; istatistiksel olarak makul görünen devamı üretir. Uydurma bir kaynak ya da fonksiyon, arıza değil mimarinin doğal sonucudur.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" y="7470648"/>
            <a:ext cx="5614416" cy="411480"/>
          </a:xfrm>
          <a:prstGeom prst="roundRect">
            <a:avLst>
              <a:gd name="adj" fmla="val 17778"/>
            </a:avLst>
          </a:prstGeom>
          <a:solidFill>
            <a:srgbClr val="FBEDE7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752551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 </a:t>
            </a:r>
            <a:pPr indent="0" marL="0">
              <a:buNone/>
            </a:pPr>
            <a:r>
              <a:rPr lang="en-US" sz="1100" dirty="0">
                <a:solidFill>
                  <a:srgbClr val="6B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olmayan bir fonksiyonu emin bir dille önerebilir.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8458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Prompt Mühendisliği  ·  Ders 1 / 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8458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6161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48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AYNI İSTEK, İKİ SONUÇ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81928" y="521208"/>
            <a:ext cx="438912" cy="438912"/>
          </a:xfrm>
          <a:prstGeom prst="ellipse">
            <a:avLst/>
          </a:prstGeom>
          <a:solidFill>
            <a:srgbClr val="16161F"/>
          </a:solidFill>
          <a:ln/>
        </p:spPr>
      </p:sp>
      <p:sp>
        <p:nvSpPr>
          <p:cNvPr id="5" name="Text 3"/>
          <p:cNvSpPr/>
          <p:nvPr/>
        </p:nvSpPr>
        <p:spPr>
          <a:xfrm>
            <a:off x="6281928" y="521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Farkı yaratan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değil, sizsiniz.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6126480" cy="1874520"/>
          </a:xfrm>
          <a:prstGeom prst="roundRect">
            <a:avLst>
              <a:gd name="adj" fmla="val 5854"/>
            </a:avLst>
          </a:prstGeom>
          <a:solidFill>
            <a:srgbClr val="EBE0D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ZAYIF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“Toplantı notundan gereksinim çıkar.”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7307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biçimde, hangi ayrıntı düzeyinde, kim için? Model bunları bilmediği için genel geçer bir liste üretir.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800600"/>
            <a:ext cx="61264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GÜÇLÜ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349240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Rol: 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Yazılım projelerinde iş analistisin.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Görev: 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Ekteki toplantı notundan fonksiyonel gereksinimleri çıkar.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Kısıt: 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madde tek cümle. Notta geçmeyen gereksinim ekleme.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GR-01 | Gereksinim | Öncelik tablosu.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7178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tonu belirler · Kısıt sınırı çizer · Format iskeleti kurar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8458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Prompt Mühendisliği  ·  Ders 1 / 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8458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6161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48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İŞE YARAYAN İSKELET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81928" y="521208"/>
            <a:ext cx="438912" cy="438912"/>
          </a:xfrm>
          <a:prstGeom prst="ellipse">
            <a:avLst/>
          </a:prstGeom>
          <a:solidFill>
            <a:srgbClr val="16161F"/>
          </a:solidFill>
          <a:ln/>
        </p:spPr>
      </p:sp>
      <p:sp>
        <p:nvSpPr>
          <p:cNvPr id="5" name="Text 3"/>
          <p:cNvSpPr/>
          <p:nvPr/>
        </p:nvSpPr>
        <p:spPr>
          <a:xfrm>
            <a:off x="6281928" y="521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bir talimatta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 bu dördü var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94360" y="2880360"/>
            <a:ext cx="6126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32004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063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3741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 kiminle konuştuğunu söyleyin. Bu tek cümle, kullanacağı dili ve tonu baştan belirler.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178808"/>
            <a:ext cx="6126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44988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361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46725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istediğinizi açık açık yazın. Şirket içi kısaltmalarınızı mutlaka açıklayın, model onları bilmiyor.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5477256"/>
            <a:ext cx="6126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6968" y="579729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" y="5797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5660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54480" y="59710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Sınırı ölçülebilir koyun. Model “kısa olsun”u yorumlar, “en fazla 80 kelime”yi sayar.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6775704"/>
            <a:ext cx="6126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6968" y="709574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" y="7095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6958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54480" y="7269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Cevabın iskeletini siz çizin, boşlukları model doldursun. Böylece her seferinde aynı düzeni alırsınız.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8458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Prompt Mühendisliği  ·  Ders 1 / 12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8458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6583680"/>
            <a:ext cx="4206240" cy="4206240"/>
          </a:xfrm>
          <a:prstGeom prst="ellipse">
            <a:avLst/>
          </a:prstGeom>
          <a:solidFill>
            <a:srgbClr val="FF6B3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48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ALTIN KURAL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81928" y="52120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281928" y="521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Yazdığım bu talimatı okuyan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biri, benim istediğim cevabı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vermek zorunda kalır mı?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Yoksa yüzlerce farklı cevap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uyar mı?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94360" y="6035040"/>
            <a:ext cx="8229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64008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D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Yüzlerce cevap uyuyorsa eksik olan model değil, talimattır. İyi haber şu: bu tamamen sizin elinizde.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8458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Prompt Mühendisliği  ·  Ders 1 / 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57800" y="8458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48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 SİZDE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81928" y="521208"/>
            <a:ext cx="438912" cy="438912"/>
          </a:xfrm>
          <a:prstGeom prst="ellipse">
            <a:avLst/>
          </a:prstGeom>
          <a:solidFill>
            <a:srgbClr val="16161F"/>
          </a:solidFill>
          <a:ln/>
        </p:spPr>
      </p:sp>
      <p:sp>
        <p:nvSpPr>
          <p:cNvPr id="5" name="Text 3"/>
          <p:cNvSpPr/>
          <p:nvPr/>
        </p:nvSpPr>
        <p:spPr>
          <a:xfrm>
            <a:off x="6281928" y="521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Küçük bir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94360" y="2788920"/>
            <a:ext cx="6126480" cy="137160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Şu talimatı dört bileşenle yeniden yazın: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107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“Şirketim için bir e-posta yaz.”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43434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Yazdığınız hâli yorumlara bırakın, birlikte üzerinden geçelim. Kendi işinizden gerçek bir örnek seçerseniz faydası çok daha fazla olur.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5394960"/>
            <a:ext cx="6126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5623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SIRADAKİ 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943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 2 — Prompt Design Patterns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64282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seferlik iyi bir talimatı, her defasında aynı sonucu veren bir şablona nasıl çevirdiğimizi konuşacağız.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7543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Hazırlayan  </a:t>
            </a:r>
            <a:pPr indent="0" marL="0">
              <a:buNone/>
            </a:pPr>
            <a:r>
              <a:rPr lang="en-US" sz="1500" b="1" dirty="0">
                <a:solidFill>
                  <a:srgbClr val="16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Didem Kaştan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7882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Beğendiyseniz kaydedin, seriyi takipte kalın.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8458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Prompt Mühendisliği  ·  Ders 1 / 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8458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2026-08-01T07:35:47Z</dcterms:created>
  <dcterms:modified xsi:type="dcterms:W3CDTF">2026-08-01T07:35:47Z</dcterms:modified>
</cp:coreProperties>
</file>